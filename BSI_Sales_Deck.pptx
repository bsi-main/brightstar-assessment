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คะแนนของเด็ก</c:v>
                </c:pt>
              </c:strCache>
            </c:strRef>
          </c:tx>
          <c:spPr>
            <a:solidFill>
              <a:srgbClr val="9C7B3F"/>
            </a:solidFill>
            <a:ln w="25400" cap="flat">
              <a:solidFill>
                <a:srgbClr val="9C7B3F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9C7B3F"/>
              </a:solidFill>
              <a:ln w="9525" cap="flat">
                <a:solidFill>
                  <a:srgbClr val="9C7B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ภาษาไทย</c:v>
                  </c:pt>
                  <c:pt idx="1">
                    <c:v>ภาษาอังกฤษ</c:v>
                  </c:pt>
                  <c:pt idx="2">
                    <c:v>คณิต-ตรรกะ</c:v>
                  </c:pt>
                  <c:pt idx="3">
                    <c:v>EF</c:v>
                  </c:pt>
                  <c:pt idx="4">
                    <c:v>กล้ามเนื้อ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70</c:v>
                </c:pt>
                <c:pt idx="2">
                  <c:v>90</c:v>
                </c:pt>
                <c:pt idx="3">
                  <c:v>75</c:v>
                </c:pt>
                <c:pt idx="4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C3A22"/>
                </a:solidFill>
                <a:latin typeface="TH Sarabun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รายได้ (ล้านบาท)</c:v>
                </c:pt>
              </c:strCache>
            </c:strRef>
          </c:tx>
          <c:spPr>
            <a:solidFill>
              <a:srgbClr val="9C7B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41B12"/>
                    </a:solidFill>
                    <a:latin typeface="TH Sarabun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ปีที่ 1 (โคราช)</c:v>
                  </c:pt>
                  <c:pt idx="1">
                    <c:v>ปีที่ 2 (อีสาน)</c:v>
                  </c:pt>
                  <c:pt idx="2">
                    <c:v>ปีที่ 3+ (ประเทศ)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0.75</c:v>
                </c:pt>
                <c:pt idx="1">
                  <c:v>3.5</c:v>
                </c:pt>
                <c:pt idx="2">
                  <c:v>13.5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241B12"/>
                  </a:solidFill>
                  <a:latin typeface="TH Sarabun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E6353"/>
                </a:solidFill>
                <a:latin typeface="TH Sarabun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F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353"/>
                </a:solidFill>
                <a:latin typeface="TH Sarabun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5431536" y="914400"/>
            <a:ext cx="1325880" cy="1325880"/>
          </a:xfrm>
          <a:prstGeom prst="roundRect">
            <a:avLst>
              <a:gd name="adj" fmla="val 12414"/>
            </a:avLst>
          </a:prstGeom>
          <a:solidFill>
            <a:srgbClr val="FBF7EE"/>
          </a:solidFill>
          <a:ln/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pic>
        <p:nvPicPr>
          <p:cNvPr id="5" name="Image 0" descr="/sessions/peaceful-hopeful-volta/mnt/ระบบประเมินสมรรถนะเด็กอนุบาล 7 ระดับ/_build_mk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1088136"/>
            <a:ext cx="978408" cy="978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4688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BRIGHTSTAR ASSESSMENT INSTITUTE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292608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ระบบประเมินสมรรถนะเด็กปฐมวัย Star Path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0" y="38404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BF7E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สถาบันประเมินกลางอิสระ · วัดรอบด้าน 5 สมรรถนะ · จัดระดับ 7 ดาว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108960" y="4663440"/>
            <a:ext cx="5971032" cy="822960"/>
          </a:xfrm>
          <a:prstGeom prst="rect">
            <a:avLst/>
          </a:prstGeom>
          <a:solidFill>
            <a:srgbClr val="5C3A2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08960" y="4663440"/>
            <a:ext cx="5971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เอกสารนำเสนอเพื่อความร่วมมือ · โรงเรียน · ผู้ปกครอง · มหาวิทยาลัย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02920" y="502920"/>
            <a:ext cx="237744" cy="23774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657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ทำไมต้องมี “ผู้ประเมินกลาง”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86968" y="10241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โจทย์ของโรงเรียนและผู้ปกครองยุคใหม่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1627632"/>
            <a:ext cx="1045159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627632"/>
            <a:ext cx="73152" cy="129844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719072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โรงเรียน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11880" y="1719072"/>
            <a:ext cx="7498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ต้องการพิสูจน์คุณภาพการสอนให้ผู้ปกครองเชื่อถือ แต่การวัดผลด้วยตัวเองย่อมถูกตั้งคำถามเรื่องความเป็นกลาง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3108960"/>
            <a:ext cx="1045159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108960"/>
            <a:ext cx="73152" cy="129844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200400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ผู้ปกครอง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11880" y="3200400"/>
            <a:ext cx="7498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อยากรู้ว่าลูกเก่งด้านใด ควรเสริมด้านใด ด้วยข้อมูลที่จับต้องได้ ไม่ใช่แค่ความรู้สึก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" y="4590288"/>
            <a:ext cx="1045159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590288"/>
            <a:ext cx="73152" cy="129844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681728"/>
            <a:ext cx="2377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ตลาด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11880" y="4681728"/>
            <a:ext cx="7498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ยังไม่มีผู้เล่นที่วางตัวเป็น “สถาบันประเมินกลางอิสระ” สำหรับปฐมวัยอย่างชัดเจนในภูมิภาค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BrightStar Assessment Institute · Star Path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02920" y="502920"/>
            <a:ext cx="237744" cy="23774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657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BSI คือสถาบันประเมินกลางอิสระ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86968" y="10241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สถาบันไม่มีนักเรียนของตนเอง — เราเป็นผู้วัดผลที่เป็นกลางให้ทุกโรงเรียน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10451592" cy="1188720"/>
          </a:xfrm>
          <a:prstGeom prst="rect">
            <a:avLst/>
          </a:prstGeom>
          <a:solidFill>
            <a:srgbClr val="5C3A2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104515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“มาตรฐานเดียว เทียบกันได้จริง ตั้งแต่ห้องเรียน ถึงระดับประเทศ”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68680" y="329184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3291840"/>
            <a:ext cx="73152" cy="13716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4198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" y="3877056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ลงทะเบียน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71800" y="329184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1800" y="3291840"/>
            <a:ext cx="73152" cy="13716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34198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063240" y="3877056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จัดสอบ 5 ห้อง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74920" y="329184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74920" y="3291840"/>
            <a:ext cx="73152" cy="13716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34198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166360" y="3877056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ให้คะแนน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178040" y="329184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78040" y="3291840"/>
            <a:ext cx="73152" cy="13716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34198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69480" y="3877056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รายงาน + เกียรติบัตร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281160" y="329184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81160" y="3291840"/>
            <a:ext cx="73152" cy="13716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5" name="Text 23"/>
          <p:cNvSpPr/>
          <p:nvPr/>
        </p:nvSpPr>
        <p:spPr>
          <a:xfrm>
            <a:off x="9281160" y="341985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372600" y="3877056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แดชบอร์ดเทียบผล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8680" y="4983480"/>
            <a:ext cx="10451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เชื่อมข้อมูลถึงกันด้วยฐานข้อมูลกลาง — โรงเรียน ผู้ปกครอง และผู้บริหารเห็นผลชุดเดียวกัน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BrightStar Assessment Institute · Star Path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02920" y="502920"/>
            <a:ext cx="237744" cy="23774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657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 Star Path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86968" y="10241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วัด 5 กลุ่มสมรรถนะ แล้วจัดระดับเป็น 7 ดาว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1920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691640"/>
            <a:ext cx="73152" cy="17830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659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ภาษาไทย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น้ำหนัก 20%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71800" y="1691640"/>
            <a:ext cx="1920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71800" y="1691640"/>
            <a:ext cx="73152" cy="17830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19659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ภาษาอังกฤษ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6324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น้ำหนัก 20%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74920" y="1691640"/>
            <a:ext cx="1920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74920" y="1691640"/>
            <a:ext cx="73152" cy="17830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5" name="Text 13"/>
          <p:cNvSpPr/>
          <p:nvPr/>
        </p:nvSpPr>
        <p:spPr>
          <a:xfrm>
            <a:off x="5166360" y="19659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คณิต-ตรรกะ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663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น้ำหนัก 25%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78040" y="1691640"/>
            <a:ext cx="1920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78040" y="1691640"/>
            <a:ext cx="73152" cy="17830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19659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EF / เชาวน์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6948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น้ำหนัก 20%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281160" y="1691640"/>
            <a:ext cx="1920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281160" y="1691640"/>
            <a:ext cx="73152" cy="17830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3" name="Text 21"/>
          <p:cNvSpPr/>
          <p:nvPr/>
        </p:nvSpPr>
        <p:spPr>
          <a:xfrm>
            <a:off x="9372600" y="19659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กล้ามเนื้อ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7260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น้ำหนัก 15%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68680" y="3794760"/>
            <a:ext cx="10451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9728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 ระดับดาว (Star Path)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097280" y="44348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★ I ดาวน้อย   ★★ II ดาวเริ่มฉาย   ★★★ III ดาวสุกใส   ★★★★ IV ดาวเด่น   ★★★★★ V ดาวนำทาง   ★★★★★★ VI ดาวเจิดจรัส   ★★★★★★★ VII ดาวมาสเตอร์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BrightStar Assessment Institute · Star Path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02920" y="502920"/>
            <a:ext cx="237744" cy="23774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657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รายงานวินิจฉัยรายบุคคล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86968" y="10241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ไม่ใช่แค่ “รู้คะแนน” แต่ “รู้จักตัวเอง” — จุดที่ผู้ปกครองยอมจ่าย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68680" y="169164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69164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0" y="1691640"/>
            <a:ext cx="73152" cy="41148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ในรายงานหนึ่งฉบับ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903720" y="2423160"/>
            <a:ext cx="4160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ประเมินผลภาพรวม + ระดับดาว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จุดแข็ง &amp; จุดที่ควรส่งเสริม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กราฟเรดาร์ 5 สมรรถนะเห็นภาพทันที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เทียบกับค่าอ้างอิงกลุ่มวัยเดียวกัน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คำแนะนำกิจกรรมส่งเสริมที่บ้าน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เกียรติบัตรระดับดาว + พอร์ตโฟลิโอ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BrightStar Assessment Institute · Star Path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02920" y="502920"/>
            <a:ext cx="237744" cy="23774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657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จุดต่างที่ทำให้เราน่าเชื่อถือ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68680" y="1645920"/>
            <a:ext cx="32918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45920"/>
            <a:ext cx="73152" cy="19659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" y="18288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เป็นกลาง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24712" y="239572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ผู้วัดผลภายนอก ผลน่าเชื่อถือกว่าโรงเรียนวัดเอง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7408" y="1645920"/>
            <a:ext cx="32918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07408" y="1645920"/>
            <a:ext cx="73152" cy="19659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8288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เทียบได้จริง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39572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มาตรฐานเดียว เทียบรายบุคคล–ชั้น–โรงเรียน–พื้นที่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46136" y="1645920"/>
            <a:ext cx="32918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46136" y="1645920"/>
            <a:ext cx="73152" cy="19659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02168" y="18288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รอบด้าน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02168" y="239572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วัด 5 สมรรถนะ รวม EF และกล้ามเนื้อ ไม่ใช่แค่วิชาการ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3886200"/>
            <a:ext cx="32918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886200"/>
            <a:ext cx="73152" cy="19659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8" name="Text 16"/>
          <p:cNvSpPr/>
          <p:nvPr/>
        </p:nvSpPr>
        <p:spPr>
          <a:xfrm>
            <a:off x="1124712" y="4069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อ่อนโยนกับเด็ก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24712" y="463600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รายงานภาษาบวก เน้นส่งเสริม ไม่ตีตราเด็ก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407408" y="3886200"/>
            <a:ext cx="32918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07408" y="3886200"/>
            <a:ext cx="73152" cy="19659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4069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รับรองวิชาการ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63440" y="463600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ร่วมกับมหาวิทยาลัยวงษ์ชวลิตกุล เสริมความเชื่อมั่น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946136" y="3886200"/>
            <a:ext cx="32918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46136" y="3886200"/>
            <a:ext cx="73152" cy="19659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6" name="Text 24"/>
          <p:cNvSpPr/>
          <p:nvPr/>
        </p:nvSpPr>
        <p:spPr>
          <a:xfrm>
            <a:off x="8202168" y="4069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ครบวงจร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02168" y="463600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ระบบพร้อมใช้จริงตั้งแต่ลงทะเบียนถึงแดชบอร์ด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BrightStar Assessment Institute · Star Path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02920" y="502920"/>
            <a:ext cx="237744" cy="23774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657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สามผลิตภัณฑ์ ครอบคลุมทุกลูกค้า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68680" y="1737360"/>
            <a:ext cx="33832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73152" cy="37490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941832" y="1737360"/>
            <a:ext cx="3310128" cy="868680"/>
          </a:xfrm>
          <a:prstGeom prst="rect">
            <a:avLst/>
          </a:prstGeom>
          <a:solidFill>
            <a:srgbClr val="5C3A2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7373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แพ็กเกจโรงเรียน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24712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B2B2C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24712" y="3163824"/>
            <a:ext cx="914400" cy="320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1124712" y="33375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โรงเรียนจัดให้นักเรียนทั้งระดับ/ทั้งโรงเรียนมาประเมิน ราคาขั้นบันไดตามจำนวน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80560" y="1737360"/>
            <a:ext cx="33832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737360"/>
            <a:ext cx="73152" cy="37490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3" name="Shape 11"/>
          <p:cNvSpPr/>
          <p:nvPr/>
        </p:nvSpPr>
        <p:spPr>
          <a:xfrm>
            <a:off x="4553712" y="1737360"/>
            <a:ext cx="3310128" cy="868680"/>
          </a:xfrm>
          <a:prstGeom prst="rect">
            <a:avLst/>
          </a:prstGeom>
          <a:solidFill>
            <a:srgbClr val="5C3A22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7373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แพ็กเกจผู้ปกครอง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36592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B2C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36592" y="3163824"/>
            <a:ext cx="914400" cy="320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7" name="Text 15"/>
          <p:cNvSpPr/>
          <p:nvPr/>
        </p:nvSpPr>
        <p:spPr>
          <a:xfrm>
            <a:off x="4736592" y="33375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ผู้ปกครองพาลูกมาทดสอบรายบุคคลที่สนาม เริ่ม 690 บาท/คน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92440" y="1737360"/>
            <a:ext cx="33832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92440" y="1737360"/>
            <a:ext cx="73152" cy="37490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0" name="Shape 18"/>
          <p:cNvSpPr/>
          <p:nvPr/>
        </p:nvSpPr>
        <p:spPr>
          <a:xfrm>
            <a:off x="8165592" y="1737360"/>
            <a:ext cx="3310128" cy="868680"/>
          </a:xfrm>
          <a:prstGeom prst="rect">
            <a:avLst/>
          </a:prstGeom>
          <a:solidFill>
            <a:srgbClr val="5C3A22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17373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สนามร่วมมหาวิทยาลัย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48472" y="2743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พันธมิตร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348472" y="3163824"/>
            <a:ext cx="914400" cy="320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4" name="Text 22"/>
          <p:cNvSpPr/>
          <p:nvPr/>
        </p:nvSpPr>
        <p:spPr>
          <a:xfrm>
            <a:off x="8348472" y="33375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สนามถาวรที่มหาวิทยาลัยรับรองวิชาการ เพิ่มเครดิตและเป็นพื้นที่ฝึกนักศึกษา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BrightStar Assessment Institute · Star Path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02920" y="502920"/>
            <a:ext cx="237744" cy="23774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657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แพ็กเกจโรงเรียน — ราคา/คน/รอบ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86968" y="10241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ยืดหยุ่นตามจำนวนนักเรียน · ส่วนลดนำร่อง 15–20% ในระยะแรก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737360"/>
          <a:ext cx="10451592" cy="914400"/>
        </p:xfrm>
        <a:graphic>
          <a:graphicData uri="http://schemas.openxmlformats.org/drawingml/2006/table">
            <a:tbl>
              <a:tblPr/>
              <a:tblGrid>
                <a:gridCol w="2221992"/>
                <a:gridCol w="1554480"/>
                <a:gridCol w="1554480"/>
                <a:gridCol w="1371600"/>
                <a:gridCol w="374904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ระดับ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30–80 คน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81–200 คน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200+ คน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รวมอะไรบ้าง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Lite (1 ครั้ง/ปี)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350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320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290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รายงานรายบุคคล + แดชบอร์ดห้องเรียน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Standard (2 ครั้ง/ปี)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590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540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490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วัดพัฒนาการ + เกียรติบัตร + แดชบอร์ดโรงเรียน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Partner/Premium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เริ่ม 790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เริ่ม 790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เริ่ม 790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2–3 ครั้ง + อบรมครู + เทียบพื้นที่ + co-brand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68680" y="4892040"/>
            <a:ext cx="10451592" cy="868680"/>
          </a:xfrm>
          <a:prstGeom prst="rect">
            <a:avLst/>
          </a:prstGeom>
          <a:solidFill>
            <a:srgbClr val="F6F1E6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489204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แรงจูงใจช่องทางโรงเรียน:  </a:t>
            </a:r>
            <a:pPr indent="0" marL="0">
              <a:buNone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โรงเรียนที่ส่งสมัคร ≥ 100 คน รับส่วนลด/ค่าประสานงาน 3% · จัดสอบนอกสถานที่ฟรีเมื่อ ≥ 60 คน · อบรมครู 9,900 บาท/รุ่น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BrightStar Assessment Institute · Star Path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02920" y="502920"/>
            <a:ext cx="237744" cy="23774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657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แพ็กเกจผู้ปกครองรายบุคคล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86968" y="10241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ประเมินครบ 5 ห้อง + รายงานวินิจฉัย + เกียรติบัตรดิจิทัล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3383280" cy="2971800"/>
          </a:xfrm>
          <a:prstGeom prst="rect">
            <a:avLst/>
          </a:prstGeom>
          <a:solidFill>
            <a:srgbClr val="FBF7EE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783080"/>
            <a:ext cx="73152" cy="29718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011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มาตรฐาน (เดี่ยว)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690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143000" y="3611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บาท/คน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80560" y="1783080"/>
            <a:ext cx="3383280" cy="2971800"/>
          </a:xfrm>
          <a:prstGeom prst="rect">
            <a:avLst/>
          </a:prstGeom>
          <a:solidFill>
            <a:srgbClr val="FBF7EE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783080"/>
            <a:ext cx="73152" cy="29718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011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คู่/พี่น้อง/กลุ่ม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590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754880" y="3611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บาท/คน (ตั้งแต่ 2 คน)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2440" y="1783080"/>
            <a:ext cx="3383280" cy="2971800"/>
          </a:xfrm>
          <a:prstGeom prst="rect">
            <a:avLst/>
          </a:prstGeom>
          <a:solidFill>
            <a:srgbClr val="F6F1E6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92440" y="1783080"/>
            <a:ext cx="73152" cy="29718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011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พรีเมียม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75320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1,290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366760" y="3611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รายงานเชิงลึก + ปรึกษาผู้เชี่ยวชาญ 30 นาที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8680" y="5074920"/>
            <a:ext cx="10451592" cy="6858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074920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โปรเปิดสนามโคราช (Early Bird) เพียง 590 บาท/คน — จำนวนจำกัดเฉพาะรอบเปิดตัว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BrightStar Assessment Institute · Star Path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02920" y="502920"/>
            <a:ext cx="237744" cy="23774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657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เปรียบเทียบสิ่งที่ได้รับในแต่ละแพ็กเกจ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86968" y="10241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เลือกระดับที่เหมาะกับโรงเรียน/ครอบครัวของท่าน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691640"/>
          <a:ext cx="92354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1371600"/>
                <a:gridCol w="1417320"/>
                <a:gridCol w="1417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สิ่งที่ได้รับ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Lite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Standard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Premium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ประเมินครบ 5 สมรรถนะ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✔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✔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✔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รายงานวินิจฉัยรายบุคคล + กราฟเรดาร์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✔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✔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✔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เกียรติบัตรระดับดาว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✔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✔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✔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แดชบอร์ดเปรียบเทียบ (ชั้น/โรงเรียน)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–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✔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✔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วัด 2 ครั้ง/ปี ติดตามพัฒนาการ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–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✔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✔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เทียบรายพื้นที่ + อบรมครู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–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–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✔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ตรารับรองร่วม (co-brand) มหาวิทยาลัย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–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–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41B12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✔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463040" y="58064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แนวคิดนำเสนอแบบตารางเทียบช่วยให้ตัดสินใจง่ายและเห็นคุณค่าของการอัปเกรด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BrightStar Assessment Institute · Star Path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02920" y="502920"/>
            <a:ext cx="237744" cy="23774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657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พันธมิตรวิชาการ — มหาวิทยาลัยวงษ์ชวลิตกุล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86968" y="10241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นครราชสีมา · มีคณะศึกษาศาสตร์และสาขาปฐมวัยโดยตรง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1737360"/>
            <a:ext cx="51206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737360"/>
            <a:ext cx="73152" cy="37033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มหาวิทยาลัยได้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246888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พื้นที่ฝึกประสบการณ์นักศึกษาปฐมวัย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ข้อมูลเพื่องานวิจัย (ไม่ระบุตัวบุคคล)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ภาพลักษณ์บริการวิชาการแก่ชุมชน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9632" y="1737360"/>
            <a:ext cx="51206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737360"/>
            <a:ext cx="73152" cy="37033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สถาบันได้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19672" y="246888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ความน่าเชื่อถือทางวิชาการ + ตรา co-brand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สนามทดสอบถาวรประจำเดือน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กำลังคนผู้ช่วยจัดสอบจากนักศึกษา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5577840"/>
            <a:ext cx="10451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รูปแบบรายได้: แบ่งส่วนแบ่งให้มหาวิทยาลัย 12–15% ต่อหัว หรือค่าธรรมเนียมรับรองรายปี (เจรจาตามข้อตกลง)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BrightStar Assessment Institute · Star Path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A2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สมัครรอบนี้ — ทุกคนได้รางวัลแห่งความภูมิใจ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สร้างจังหวะการตลาดเป็น “รอบสอบ” มีวันหมดเขต + รางวัลเชิงพัฒนาการ (ไม่กดดันเด็ก)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874520"/>
          </a:xfrm>
          <a:prstGeom prst="rect">
            <a:avLst/>
          </a:prstGeom>
          <a:solidFill>
            <a:srgbClr val="5C3A2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★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783080" y="20299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เกียรติบัตรระดับดาว ได้ทุกคน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57860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7E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ทุกคนที่เข้าร่วมได้เกียรติบัตรตามระดับดาวของตน เป็นความภูมิใจของครอบครัว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394960" cy="1874520"/>
          </a:xfrm>
          <a:prstGeom prst="rect">
            <a:avLst/>
          </a:prstGeom>
          <a:solidFill>
            <a:srgbClr val="5C3A2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●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360920" y="20299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เหรียญ/สติกเกอร์รายสมรรถนะ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60920" y="257860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7E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ชื่นชมจุดเด่นรายด้าน เช่น ดาวภาษา ดาว EF กระตุ้นเชิงบวก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5394960" cy="1874520"/>
          </a:xfrm>
          <a:prstGeom prst="rect">
            <a:avLst/>
          </a:prstGeom>
          <a:solidFill>
            <a:srgbClr val="5C3A2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160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⏰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83080" y="41788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รอบสอบมีวันหมดเขต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83080" y="472744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7E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เปิดรับสมัครเป็นรอบรายเดือน + Early Bird ราคาพิเศษจำนวนจำกัด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3977640"/>
            <a:ext cx="5394960" cy="1874520"/>
          </a:xfrm>
          <a:prstGeom prst="rect">
            <a:avLst/>
          </a:prstGeom>
          <a:solidFill>
            <a:srgbClr val="5C3A2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160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⚑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360920" y="41788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โควต้าโรงเรียน 3%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60920" y="472744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7E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โรงเรียนที่ส่งครบจำนวนรับสิทธิ์/ส่วนลดพิเศษ ดึงโรงเรียนเป็นช่องทาง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BrightStar Assessment Institute · Star Path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02920" y="502920"/>
            <a:ext cx="237744" cy="23774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657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บทเรียนจากผู้นำตลาด &amp; จุดที่เราต่าง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86968" y="10241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โมเดล “สนามสอบกลางทั่วประเทศ” พิสูจน์แล้วว่าทำได้ — เราจับช่องว่างปฐมวัย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1737360"/>
            <a:ext cx="5120640" cy="548640"/>
          </a:xfrm>
          <a:prstGeom prst="rect">
            <a:avLst/>
          </a:prstGeom>
          <a:solidFill>
            <a:srgbClr val="5C3A2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สิ่งที่ตลาดทำสำเร็จ (นำมาปรับใช้)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9632" y="1737360"/>
            <a:ext cx="5120640" cy="548640"/>
          </a:xfrm>
          <a:prstGeom prst="rect">
            <a:avLst/>
          </a:prstGeom>
          <a:solidFill>
            <a:srgbClr val="9C7B3F"/>
          </a:solidFill>
          <a:ln/>
        </p:spPr>
      </p:sp>
      <p:sp>
        <p:nvSpPr>
          <p:cNvPr id="8" name="Text 6"/>
          <p:cNvSpPr/>
          <p:nvPr/>
        </p:nvSpPr>
        <p:spPr>
          <a:xfrm>
            <a:off x="6199632" y="1737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จุดที่ BSI ทำต่างและได้เปรียบ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2331720"/>
            <a:ext cx="5120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331720"/>
            <a:ext cx="73152" cy="32918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51460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สนามกลางหลายจังหวัด = จุดขายหลัก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รางวัล/เหรียญ/ทุน กระตุ้นสมัคร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รายงานวินิจฉัยรายบุคคล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แพ็กเกจเทียบฟีเจอร์ชัดเจน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เร่งเร้าด้วยรอบ-วันหมดเขต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9632" y="2331720"/>
            <a:ext cx="5120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2331720"/>
            <a:ext cx="73152" cy="32918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6519672" y="251460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จับ “ปฐมวัย” ที่ผู้นำไม่ได้เน้น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วัดพัฒนาการรอบด้าน ไม่ใช่ติวแข่ง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โทนอบอุ่น ไม่กดดันเด็กเล็ก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รับรองโดยมหาวิทยาลัยตั้งแต่ต้น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แดชบอร์ดเทียบพื้นที่สำหรับผู้บริหาร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BrightStar Assessment Institute · Star Path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02920" y="502920"/>
            <a:ext cx="237744" cy="23774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657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แผนขยาย 3 ระยะ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86968" y="10241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โคราช → ภาคอีสาน → ทั่วประเทศ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3383280" cy="841248"/>
          </a:xfrm>
          <a:prstGeom prst="rect">
            <a:avLst/>
          </a:prstGeom>
          <a:solidFill>
            <a:srgbClr val="5C3A2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013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ระยะ 1 · ปีที่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โคราช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2715768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15768"/>
            <a:ext cx="73152" cy="27432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1124712" y="2926080"/>
            <a:ext cx="29260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ลงนาม MOU มหาวิทยาลัย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โรงเรียนนำร่อง 8–10 แห่ง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เปิดสนามรายเดือน + case study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80560" y="1783080"/>
            <a:ext cx="3383280" cy="841248"/>
          </a:xfrm>
          <a:prstGeom prst="rect">
            <a:avLst/>
          </a:prstGeom>
          <a:solidFill>
            <a:srgbClr val="5C3A22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8013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ระยะ 2 · ปีที่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194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ภาคอีสาน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480560" y="2715768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2715768"/>
            <a:ext cx="73152" cy="27432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2926080"/>
            <a:ext cx="29260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ขยายผ่านตัวแทน/สนามพันธมิตร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โรงเรียน 25–35 แห่ง · 3–4 จังหวัด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แดชบอร์ดเทียบรายพื้นที่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92440" y="1783080"/>
            <a:ext cx="3383280" cy="841248"/>
          </a:xfrm>
          <a:prstGeom prst="rect">
            <a:avLst/>
          </a:prstGeom>
          <a:solidFill>
            <a:srgbClr val="5C3A22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18013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ระยะ 3 · ปีที่ 3+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92440" y="2194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ทั่วประเทศ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092440" y="2715768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92440" y="2715768"/>
            <a:ext cx="73152" cy="27432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2" name="Text 20"/>
          <p:cNvSpPr/>
          <p:nvPr/>
        </p:nvSpPr>
        <p:spPr>
          <a:xfrm>
            <a:off x="8348472" y="2926080"/>
            <a:ext cx="29260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แพลตฟอร์มกลางหลายพื้นที่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พันธมิตรหลายมหาวิทยาลัย/เขต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รายงานระดับประเทศ + แฟรนไชส์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BrightStar Assessment Institute · Star Path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02920" y="502920"/>
            <a:ext cx="237744" cy="23774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36576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5C3A2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ประมาณการเติบโต (เชิงภาพประกอบ)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86968" y="102412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สมมติฐานเชิงอนุรักษ์เพื่อการวางแผน — ไม่ใช่การรับประกันผล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68680" y="173736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1737360"/>
            <a:ext cx="336499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DFCB"/>
            </a:solidFill>
            <a:prstDash val="solid"/>
          </a:ln>
          <a:effectLst>
            <a:outerShdw sx="100000" sy="100000" kx="0" ky="0" algn="bl" rotWithShape="0" blurRad="114300" dist="38100" dir="8100000">
              <a:srgbClr val="3A2417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0" y="1737360"/>
            <a:ext cx="73152" cy="40233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8" name="Text 5"/>
          <p:cNvSpPr/>
          <p:nvPr/>
        </p:nvSpPr>
        <p:spPr>
          <a:xfrm>
            <a:off x="818388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7B3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ตัวเลขเป้าหมาย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0" y="2423160"/>
            <a:ext cx="290779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ปีที่ 1: 0.7–0.8 ล้านบาท</a:t>
            </a:r>
            <a:endParaRPr lang="en-US" sz="150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8–10 โรงเรียน + 1 สนาม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ปีที่ 2: 3–4 ล้านบาท</a:t>
            </a:r>
            <a:endParaRPr lang="en-US" sz="150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25–35 โรงเรียน + 3–4 สนาม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ปีที่ 3+: 12–15 ล้านบาท</a:t>
            </a:r>
            <a:endParaRPr lang="en-US" sz="150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41B1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100+ โรงเรียน + แฟรนไชส์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BrightStar Assessment Institute · Star Path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4712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35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A2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5522976" y="868680"/>
            <a:ext cx="1143000" cy="1143000"/>
          </a:xfrm>
          <a:prstGeom prst="roundRect">
            <a:avLst>
              <a:gd name="adj" fmla="val 12800"/>
            </a:avLst>
          </a:prstGeom>
          <a:solidFill>
            <a:srgbClr val="FBF7EE"/>
          </a:solidFill>
          <a:ln/>
        </p:spPr>
      </p:sp>
      <p:pic>
        <p:nvPicPr>
          <p:cNvPr id="5" name="Image 0" descr="/sessions/peaceful-hopeful-volta/mnt/ระบบประเมินสมรรถนะเด็กอนุบาล 7 ระดับ/_build_mk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424" y="1024128"/>
            <a:ext cx="832104" cy="8321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2860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ร่วมยกระดับมาตรฐานปฐมวัยไปด้วยกัน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0" y="31546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BF7E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เริ่มจากการทดลองวัดฟรี 1 ห้องเรียน แล้วให้ผลลัพธ์เป็นผู้พูดแทนเรา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566160" y="4114800"/>
            <a:ext cx="5056632" cy="1371600"/>
          </a:xfrm>
          <a:prstGeom prst="rect">
            <a:avLst/>
          </a:prstGeom>
          <a:solidFill>
            <a:srgbClr val="5C3A2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66160" y="4114800"/>
            <a:ext cx="5056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BrightStar Assessment Institute
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ติดต่อ: ฝ่ายความร่วมมือสถาบัน · LINE OA · โทร · อีเมล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0" y="58521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C9A96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Star Path · 5 สมรรถนะ · 7 ระดับดาว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BSI Sales Deck</dc:title>
  <dc:subject>PptxGenJS Presentation</dc:subject>
  <dc:creator>BrightStar Assessment Institute</dc:creator>
  <cp:lastModifiedBy>BrightStar Assessment Institute</cp:lastModifiedBy>
  <cp:revision>1</cp:revision>
  <dcterms:created xsi:type="dcterms:W3CDTF">2026-06-15T11:23:55Z</dcterms:created>
  <dcterms:modified xsi:type="dcterms:W3CDTF">2026-06-15T11:23:55Z</dcterms:modified>
</cp:coreProperties>
</file>